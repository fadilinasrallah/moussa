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43742"/>
                </a:solidFill>
                <a:latin typeface="Aptos"/>
              </a:defRPr>
            </a:pPr>
            <a:r>
              <a:t>Informations Générales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246073"/>
                </a:solidFill>
                <a:latin typeface="Aptos"/>
              </a:defRPr>
            </a:pPr>
            <a:r>
              <a:t>Système de détection automatique de données dissimulées dans les images et vidéos numériques par analyse de texture et classification automatique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23160"/>
            <a:ext cx="6446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232323"/>
                </a:solidFill>
                <a:latin typeface="Aptos"/>
              </a:defRPr>
            </a:pPr>
            <a:r>
              <a:t>Établissement : ENSA Tanger, Filière Génie Cybersécurité et Cyberintelligence</a:t>
            </a:r>
          </a:p>
          <a:p>
            <a:pPr>
              <a:defRPr sz="1900">
                <a:solidFill>
                  <a:srgbClr val="232323"/>
                </a:solidFill>
                <a:latin typeface="Aptos"/>
              </a:defRPr>
            </a:pPr>
            <a:r>
              <a:t>Année universitaire : 2025-2026</a:t>
            </a:r>
          </a:p>
          <a:p>
            <a:pPr>
              <a:defRPr sz="1900">
                <a:solidFill>
                  <a:srgbClr val="232323"/>
                </a:solidFill>
                <a:latin typeface="Aptos"/>
              </a:defRPr>
            </a:pPr>
            <a:r>
              <a:t>Équipe projet : Zirar Chaimae, Fadili Nasrallah, Cheikh Mariam, Toukour Nouha, Oussafi Ilyas</a:t>
            </a:r>
          </a:p>
          <a:p>
            <a:pPr>
              <a:defRPr sz="1900">
                <a:solidFill>
                  <a:srgbClr val="232323"/>
                </a:solidFill>
                <a:latin typeface="Aptos"/>
              </a:defRPr>
            </a:pPr>
            <a:r>
              <a:t>Encadrant académique : M. Ahmed Moussa</a:t>
            </a:r>
          </a:p>
        </p:txBody>
      </p:sp>
      <p:pic>
        <p:nvPicPr>
          <p:cNvPr id="5" name="Picture 4" descr="dem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148840"/>
            <a:ext cx="1965960" cy="1965960"/>
          </a:xfrm>
          <a:prstGeom prst="rect">
            <a:avLst/>
          </a:prstGeom>
        </p:spPr>
      </p:pic>
      <p:pic>
        <p:nvPicPr>
          <p:cNvPr id="6" name="Picture 5" descr="lsb_ro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148840"/>
            <a:ext cx="1508760" cy="1508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26679" y="43434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E1E1E"/>
                </a:solidFill>
                <a:latin typeface="Aptos"/>
              </a:defRPr>
            </a:pPr>
            <a:r>
              <a:t>Sujet : cacher, extraire et détecter un message LSB à partir des pixels RGB.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57784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E07834"/>
                </a:solidFill>
                <a:latin typeface="Aptos"/>
              </a:defRPr>
            </a:pPr>
            <a:r>
              <a:t>Angle du projet : traitement d'images visible + classification automatique explicable.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Aptos"/>
              </a:defRPr>
            </a:pPr>
            <a:r>
              <a:t>Principe image-processing : du pixel au LSB</a:t>
            </a:r>
          </a:p>
        </p:txBody>
      </p:sp>
      <p:pic>
        <p:nvPicPr>
          <p:cNvPr id="3" name="Picture 2" descr="dem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87552"/>
            <a:ext cx="1965960" cy="1965960"/>
          </a:xfrm>
          <a:prstGeom prst="rect">
            <a:avLst/>
          </a:prstGeom>
        </p:spPr>
      </p:pic>
      <p:pic>
        <p:nvPicPr>
          <p:cNvPr id="4" name="Picture 3" descr="canal_ro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987552"/>
            <a:ext cx="1371600" cy="1371600"/>
          </a:xfrm>
          <a:prstGeom prst="rect">
            <a:avLst/>
          </a:prstGeom>
        </p:spPr>
      </p:pic>
      <p:pic>
        <p:nvPicPr>
          <p:cNvPr id="5" name="Picture 4" descr="canal_v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968" y="987552"/>
            <a:ext cx="1371600" cy="1371600"/>
          </a:xfrm>
          <a:prstGeom prst="rect">
            <a:avLst/>
          </a:prstGeom>
        </p:spPr>
      </p:pic>
      <p:pic>
        <p:nvPicPr>
          <p:cNvPr id="6" name="Picture 5" descr="canal_ble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987552"/>
            <a:ext cx="1371600" cy="1371600"/>
          </a:xfrm>
          <a:prstGeom prst="rect">
            <a:avLst/>
          </a:prstGeom>
        </p:spPr>
      </p:pic>
      <p:pic>
        <p:nvPicPr>
          <p:cNvPr id="7" name="Picture 6" descr="lsb_rou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2743200"/>
            <a:ext cx="1371600" cy="1371600"/>
          </a:xfrm>
          <a:prstGeom prst="rect">
            <a:avLst/>
          </a:prstGeom>
        </p:spPr>
      </p:pic>
      <p:pic>
        <p:nvPicPr>
          <p:cNvPr id="8" name="Picture 7" descr="lsb_ve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2743200"/>
            <a:ext cx="1371600" cy="1371600"/>
          </a:xfrm>
          <a:prstGeom prst="rect">
            <a:avLst/>
          </a:prstGeom>
        </p:spPr>
      </p:pic>
      <p:pic>
        <p:nvPicPr>
          <p:cNvPr id="9" name="Picture 8" descr="lsb_bleu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3016" y="2743200"/>
            <a:ext cx="137160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3246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1E1E"/>
                </a:solidFill>
                <a:latin typeface="Aptos"/>
              </a:defRPr>
            </a:pPr>
            <a:r>
              <a:t>Image RGB 512 x 512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425196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1E1E"/>
                </a:solidFill>
                <a:latin typeface="Aptos"/>
              </a:defRPr>
            </a:pPr>
            <a:r>
              <a:t>Canaux RGB puis plans LSB réels de l'image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960120"/>
            <a:ext cx="4069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Une valeur RGB est codée sur 8 bits.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Le LSB est le bit de poids faible : le modifier change la valeur de 0 ou 1.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La différence est peu visible, mais elle modifie les statistiques des bits faibles.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3520440"/>
            <a:ext cx="3886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3742"/>
                </a:solidFill>
                <a:latin typeface="Aptos"/>
              </a:defRPr>
            </a:pPr>
            <a:r>
              <a:t>Pipeline : RGB -&gt; canaux -&gt; plans LSB -&gt; LBP/GLCM/histogrammes -&gt; 218 caractéristiques -&gt; SVM + Random Forest.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961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1E1E"/>
                </a:solidFill>
                <a:latin typeface="Aptos"/>
              </a:defRPr>
            </a:pPr>
            <a:r>
              <a:t>Le verdict final vient de mesures calculées sur l'image, pas d'une simple comparaison visuelle.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Aptos"/>
              </a:defRPr>
            </a:pPr>
            <a:r>
              <a:t>Démo en direct : cacher 5 000 caractères puis visualiser</a:t>
            </a:r>
          </a:p>
        </p:txBody>
      </p:sp>
      <p:pic>
        <p:nvPicPr>
          <p:cNvPr id="3" name="Picture 2" descr="dem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2057400" cy="2057400"/>
          </a:xfrm>
          <a:prstGeom prst="rect">
            <a:avLst/>
          </a:prstGeom>
        </p:spPr>
      </p:pic>
      <p:pic>
        <p:nvPicPr>
          <p:cNvPr id="4" name="Picture 3" descr="demo_st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20" y="1024128"/>
            <a:ext cx="2057400" cy="2057400"/>
          </a:xfrm>
          <a:prstGeom prst="rect">
            <a:avLst/>
          </a:prstGeom>
        </p:spPr>
      </p:pic>
      <p:pic>
        <p:nvPicPr>
          <p:cNvPr id="5" name="Picture 4" descr="difference_amplifi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024128"/>
            <a:ext cx="2057400" cy="2057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246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1E1E"/>
                </a:solidFill>
                <a:latin typeface="Aptos"/>
              </a:defRPr>
            </a:pPr>
            <a:r>
              <a:t>Image propre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3246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1E1E"/>
                </a:solidFill>
                <a:latin typeface="Aptos"/>
              </a:defRPr>
            </a:pPr>
            <a:r>
              <a:t>Image stego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3246120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1E1E"/>
                </a:solidFill>
                <a:latin typeface="Aptos"/>
              </a:defRPr>
            </a:pPr>
            <a:r>
              <a:t>Différence amplifiée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987552"/>
            <a:ext cx="4160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232323"/>
                </a:solidFill>
                <a:latin typeface="Aptos"/>
              </a:defRPr>
            </a:pPr>
            <a:r>
              <a:t>Entrée : une image et un message UTF-8 de 5 000 caractères</a:t>
            </a:r>
          </a:p>
          <a:p>
            <a:pPr>
              <a:defRPr sz="1700">
                <a:solidFill>
                  <a:srgbClr val="232323"/>
                </a:solidFill>
                <a:latin typeface="Aptos"/>
              </a:defRPr>
            </a:pPr>
            <a:r>
              <a:t>Insertion : 32 bits d'en-tête + bits du payload + marqueur de fin</a:t>
            </a:r>
          </a:p>
          <a:p>
            <a:pPr>
              <a:defRPr sz="1700">
                <a:solidFill>
                  <a:srgbClr val="232323"/>
                </a:solidFill>
                <a:latin typeface="Aptos"/>
              </a:defRPr>
            </a:pPr>
            <a:r>
              <a:t>Exemple : 20 359 valeurs RGB modifiées  PSNR 64.00 dB</a:t>
            </a:r>
          </a:p>
          <a:p>
            <a:pPr>
              <a:defRPr sz="1700">
                <a:solidFill>
                  <a:srgbClr val="232323"/>
                </a:solidFill>
                <a:latin typeface="Aptos"/>
              </a:defRPr>
            </a:pPr>
            <a:r>
              <a:t>Détection : les deux modèles donnent P(stego) et un seuil validé</a:t>
            </a:r>
          </a:p>
          <a:p>
            <a:pPr>
              <a:defRPr sz="1700">
                <a:solidFill>
                  <a:srgbClr val="232323"/>
                </a:solidFill>
                <a:latin typeface="Aptos"/>
              </a:defRPr>
            </a:pPr>
            <a:r>
              <a:t>Extraction : lecture de l'en-tête, du payload, puis décodage UTF-8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06908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43742"/>
                </a:solidFill>
                <a:latin typeface="Aptos"/>
              </a:defRPr>
            </a:pPr>
            <a:r>
              <a:t>Pendant la démo : montrer que l'oeil voit peu de différence, mais que les plans LSB, la différence amplifiée et les probabilités des modèles rendent la modification mesurable.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0468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E1E1E"/>
                </a:solidFill>
                <a:latin typeface="Aptos"/>
              </a:defRPr>
            </a:pPr>
            <a:r>
              <a:t>Ordre à suivre dans l'application : Créer -&gt; Télécharger le PNG stego -&gt; Détecter -&gt; Extraire.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Aptos"/>
              </a:defRPr>
            </a:pPr>
            <a:r>
              <a:t>Entraînement : dataset ALASKA et modèles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46073"/>
                </a:solidFill>
                <a:latin typeface="Aptos"/>
              </a:defRPr>
            </a:pPr>
            <a:r>
              <a:t>Données utilisées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52120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20 000 images cover ALASKA v2 JPEG 512 x 512 QF95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20 000 images stego générées avec notre insertion LSB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Clean et stego exportées en PNG pour éviter le raccourci JPEG/PNG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Split par groupe : 28 000 train, 6 000 validation, 6 000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96012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07834"/>
                </a:solidFill>
                <a:latin typeface="Aptos"/>
              </a:defRPr>
            </a:pPr>
            <a:r>
              <a:t>Caractéristiques et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91640"/>
            <a:ext cx="48920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218 caractéristiques par image : LSB, LBP, GLCM, histogrammes RGB, moments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Extraction parallèle pour utiliser les ressources de la machine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SVM linéaire calibré + Random Forest calibré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Seuils choisis sur validation, test gardé pour l'évaluation finale</a:t>
            </a:r>
          </a:p>
        </p:txBody>
      </p:sp>
      <p:pic>
        <p:nvPicPr>
          <p:cNvPr id="7" name="Picture 6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51960"/>
            <a:ext cx="4389120" cy="21644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23560" y="434340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43742"/>
                </a:solidFill>
                <a:latin typeface="Aptos"/>
              </a:defRPr>
            </a:pPr>
            <a:r>
              <a:t>Nous avons corrigé le risque d'overfit le plus dangereux : apprendre le format ou l'image source au lieu d'apprendre les traces LSB.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03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1E1E"/>
                </a:solidFill>
                <a:latin typeface="Aptos"/>
              </a:defRPr>
            </a:pPr>
            <a:r>
              <a:t>Résultats, limites et conclusion</a:t>
            </a:r>
          </a:p>
        </p:txBody>
      </p:sp>
      <p:pic>
        <p:nvPicPr>
          <p:cNvPr id="3" name="Picture 2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4709160" cy="193222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32120" y="9144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46073"/>
                </a:solidFill>
                <a:latin typeface="Aptos"/>
              </a:defRPr>
            </a:pPr>
            <a:r>
              <a:t>SVM linéaire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9640" y="9144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07834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32120" y="15544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Accuracy : 0.9983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F1 : 0.9983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AUC : 0.9995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Seuil : 0.5000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554480"/>
            <a:ext cx="2651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Accuracy : 0.9983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F1 : 0.9983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AUC : 0.9999</a:t>
            </a:r>
          </a:p>
          <a:p>
            <a:pPr>
              <a:defRPr sz="1800">
                <a:solidFill>
                  <a:srgbClr val="232323"/>
                </a:solidFill>
                <a:latin typeface="Aptos"/>
              </a:defRPr>
            </a:pPr>
            <a:r>
              <a:t>Seuil : 0.7535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3657600"/>
            <a:ext cx="5623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3742"/>
                </a:solidFill>
                <a:latin typeface="Aptos"/>
              </a:defRPr>
            </a:pPr>
            <a:r>
              <a:t>Lecture correcte : ces métriques sont excellentes pour notre tâche LSB contrôlée. Elles ne prouvent pas une détection universelle de toutes les méthodes modernes de stéganalyse JPEG.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4983480"/>
            <a:ext cx="5715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1E1E1E"/>
                </a:solidFill>
                <a:latin typeface="Aptos"/>
              </a:defRPr>
            </a:pPr>
            <a:r>
              <a:t>Conclusion : une modification presque invisible devient détectable quand on observe les plans de bits, les textures et les statistiques de l'image.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